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INTRO (30s):</a:t>
            </a:r>
          </a:p>
          <a:p>
            <a:r>
              <a:t>'Good day judges and fellow builders! Preparing for Microsoft Azure AZ-900 is the gateway for millions of young Africans stepping into tech. But too often, the journey feels alienating. I am thrilled to introduce Mama Cloud and Bro Cloud: our empathetic, culturally rooted AI study companions that bridge the gap between abstract cloud jargon and African everyday reality.'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UNDERSTANDING (45s):</a:t>
            </a:r>
          </a:p>
          <a:p>
            <a:r>
              <a:t>'When I first sat down to prepare for AZ-900, I faced what millions in the #1MillionDevs movement face: the Cognitive Alienation Gap. Why explain Availability Zones using a power substation in Ohio when every student in Nairobi, Lagos, or Dar es Salaam already understands how Balogun or Kariakoo market stalls manage backup generators? We memorize terms for exams, but we don't own the intuition. Mama Cloud was born from this exact personal struggle.'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(45s):</a:t>
            </a:r>
          </a:p>
          <a:p>
            <a:r>
              <a:t>'Our pedagogical formula is non-negotiable: 1. The Direct Analogy, 2. The Azure Definition, and 3. The Multi-Lingual Micro-Summary. When you tell a student that Azure Functions is like an M-Pesa agent—you don't pay them a monthly salary to sit under a tree, you pay 50 shillings only for the 30 seconds they process your cash transfer—their eyes light up! The concept is locked forever.'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PERSONAS (30s):</a:t>
            </a:r>
          </a:p>
          <a:p>
            <a:r>
              <a:t>'Learners learn differently depending on their mood. When a beginner feels overwhelmed, Mama Cloud provides warmth and reassurance: 'Don't worry my child, let Mama break it down.' When you need an energy boost at 1 AM before exam day, Bro Cloud brings the banter and hype: 'Odogwu, no dulling, let's lock this score in!' This dual dynamic creates an emotional connection no corporate chatbot can replicate.'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DEMO (60s):</a:t>
            </a:r>
          </a:p>
          <a:p>
            <a:r>
              <a:t>'Our prototype is not a Figma mockup—it is a live, fully functional web application running at localhost:8080! Module 1 gives you real-time conversational AI with voice synthesis. Module 2 gives you the searchable African Analogies Dictionary. Module 3 features a complete AZ-900 exam simulator with scaled scoring, question flagging, and detailed rationales. And Module 4 provides 3D flashcards and a real Canvas certificate generator that lets students proudly share their progress.'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USERS (40s):</a:t>
            </a:r>
          </a:p>
          <a:p>
            <a:r>
              <a:t>'We designed this tool with extreme empathy for the constraints African students actually face. Amina in Nairobi doesn't have unlimited fiber—she needs lightweight, fast-loading text and audio summaries. Chidi in Lagos doesn't want another 400-page PDF—he wants bite-sized vibe checks. And Sipho in Johannesburg wants a recognized community credential to prove his readiness to his team lead.'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&amp; SCALABILITY (45s):</a:t>
            </a:r>
          </a:p>
          <a:p>
            <a:r>
              <a:t>'How does Mama Cloud scale? First, by integrating a low-data WhatsApp and Telegram bot that meets learners where they already chat. Second, by expanding across Microsoft's entire exam tree—SC-900 for Security, DP-900 for Data, AI-900 for Artificial Intelligence. And third, through open-source community crowdsourcing: allowing students from Accra to Cairo to submit their own regional proverbs and analogies.'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(30s):</a:t>
            </a:r>
          </a:p>
          <a:p>
            <a:r>
              <a:t>'We take academic integrity and IP compliance seriously. We use zero leaked exam questions and no Microsoft logos. Everything is written from the ground up from the public Microsoft Learn syllabus, focused on building authentic intuition that prepares students for real cloud engineering interviews, not just multiple choice tricks.'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TO ACTION (30s):</a:t>
            </a:r>
          </a:p>
          <a:p>
            <a:r>
              <a:t>'To close: The #1MillionDevs movement isn't just about handing out certificates. It's about opening the doors of the global digital economy to young Africans who have the hunger and talent to lead. When we speak their language and celebrate their everyday genius, the cloud is no longer foreign. It becomes home. Thank you, and Mama Cloud invites you to try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6858000" cy="4114800"/>
          </a:xfrm>
          <a:prstGeom prst="rect">
            <a:avLst/>
          </a:prstGeom>
          <a:noFill/>
        </p:spPr>
        <p:txBody>
          <a:bodyPr wrap="square">
            <a:spAutoFit/>
          </a:bodyPr>
          <a:lstStyle/>
          <a:p>
            <a:pPr>
              <a:defRPr sz="1200" b="1">
                <a:solidFill>
                  <a:srgbClr val="F59E0B"/>
                </a:solidFill>
                <a:latin typeface="Outfit"/>
              </a:defRPr>
            </a:pPr>
            <a:r>
              <a:t>#1MILLIONDEVS HACKATHON: AZ-900 EXAM PREP EDITION</a:t>
            </a:r>
          </a:p>
          <a:p>
            <a:pPr>
              <a:spcBef>
                <a:spcPts val="800"/>
              </a:spcBef>
              <a:defRPr sz="4000" b="1">
                <a:solidFill>
                  <a:srgbClr val="F8FAFC"/>
                </a:solidFill>
                <a:latin typeface="Outfit"/>
              </a:defRPr>
            </a:pPr>
            <a:r>
              <a:t>Mama Cloud &amp; Bro Cloud</a:t>
            </a:r>
          </a:p>
          <a:p>
            <a:pPr>
              <a:spcBef>
                <a:spcPts val="1200"/>
              </a:spcBef>
              <a:defRPr sz="1800">
                <a:solidFill>
                  <a:srgbClr val="FF6B4A"/>
                </a:solidFill>
                <a:latin typeface="Plus Jakarta Sans"/>
              </a:defRPr>
            </a:pPr>
            <a:r>
              <a:t>Demystifying Microsoft Azure Fundamentals through Relatable African Real-World Analogies &amp; Multi-Lingual AI Mentorship</a:t>
            </a:r>
          </a:p>
          <a:p>
            <a:pPr>
              <a:spcBef>
                <a:spcPts val="2000"/>
              </a:spcBef>
              <a:defRPr sz="1300">
                <a:solidFill>
                  <a:srgbClr val="94A3B8"/>
                </a:solidFill>
                <a:latin typeface="Plus Jakarta Sans"/>
              </a:defRPr>
            </a:pPr>
            <a:r>
              <a:t>Hackathon Theme: “Building Smarter Exam Prep Tools from Our Own Learning Journey.”</a:t>
            </a:r>
            <a:br/>
            <a:r>
              <a:t>Presenter: John Loreng | Tech: Vanilla HTML5/CSS/JS + Web Speech &amp; Audio</a:t>
            </a:r>
          </a:p>
        </p:txBody>
      </p:sp>
      <p:pic>
        <p:nvPicPr>
          <p:cNvPr id="5" name="Picture 4" descr="mama_cloud.jpg"/>
          <p:cNvPicPr>
            <a:picLocks noChangeAspect="1"/>
          </p:cNvPicPr>
          <p:nvPr/>
        </p:nvPicPr>
        <p:blipFill>
          <a:blip r:embed="rId2"/>
          <a:stretch>
            <a:fillRect/>
          </a:stretch>
        </p:blipFill>
        <p:spPr>
          <a:xfrm>
            <a:off x="8046720" y="1371600"/>
            <a:ext cx="2377440" cy="2377440"/>
          </a:xfrm>
          <a:prstGeom prst="rect">
            <a:avLst/>
          </a:prstGeom>
        </p:spPr>
      </p:pic>
      <p:pic>
        <p:nvPicPr>
          <p:cNvPr id="6" name="Picture 5" descr="bro_cloud.jpg"/>
          <p:cNvPicPr>
            <a:picLocks noChangeAspect="1"/>
          </p:cNvPicPr>
          <p:nvPr/>
        </p:nvPicPr>
        <p:blipFill>
          <a:blip r:embed="rId3"/>
          <a:stretch>
            <a:fillRect/>
          </a:stretch>
        </p:blipFill>
        <p:spPr>
          <a:xfrm>
            <a:off x="9418320" y="2926080"/>
            <a:ext cx="2103120" cy="2103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PROBLEM UNDERSTANDING • 20% RUBRIC WEIGHT</a:t>
            </a:r>
          </a:p>
          <a:p>
            <a:pPr>
              <a:defRPr sz="2800" b="1">
                <a:solidFill>
                  <a:srgbClr val="F8FAFC"/>
                </a:solidFill>
                <a:latin typeface="Outfit"/>
              </a:defRPr>
            </a:pPr>
            <a:r>
              <a:t>The Learning Gap: Why AZ-900 Feels Foreign to African Beginners</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3291840" cy="4389120"/>
          </a:xfrm>
          <a:prstGeom prst="roundRect">
            <a:avLst/>
          </a:prstGeom>
          <a:solidFill>
            <a:srgbClr val="161E31"/>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834640" cy="3931920"/>
          </a:xfrm>
          <a:prstGeom prst="rect">
            <a:avLst/>
          </a:prstGeom>
          <a:noFill/>
        </p:spPr>
        <p:txBody>
          <a:bodyPr wrap="square" lIns="0" tIns="0" rIns="0" bIns="0">
            <a:spAutoFit/>
          </a:bodyPr>
          <a:lstStyle/>
          <a:p>
            <a:pPr>
              <a:spcAft>
                <a:spcPts val="1000"/>
              </a:spcAft>
              <a:defRPr sz="1600" b="1">
                <a:solidFill>
                  <a:srgbClr val="FF6B4A"/>
                </a:solidFill>
                <a:latin typeface="Outfit"/>
              </a:defRPr>
            </a:pPr>
            <a:r>
              <a:t>1. Abstract Western Metaphors</a:t>
            </a:r>
          </a:p>
          <a:p>
            <a:pPr>
              <a:spcAft>
                <a:spcPts val="600"/>
              </a:spcAft>
              <a:defRPr sz="1200">
                <a:solidFill>
                  <a:srgbClr val="F8FAFC"/>
                </a:solidFill>
                <a:latin typeface="Plus Jakarta Sans"/>
              </a:defRPr>
            </a:pPr>
            <a:r>
              <a:t>• AZ-900 curriculum relies heavily on corporate US/EU enterprise IT analogies.</a:t>
            </a:r>
          </a:p>
          <a:p>
            <a:pPr>
              <a:spcAft>
                <a:spcPts val="600"/>
              </a:spcAft>
              <a:defRPr sz="1200">
                <a:solidFill>
                  <a:srgbClr val="F8FAFC"/>
                </a:solidFill>
                <a:latin typeface="Plus Jakarta Sans"/>
              </a:defRPr>
            </a:pPr>
            <a:r>
              <a:t>• Concepts like 'multi-tenant hybrid data centers' or 'co-location' have zero grounding in students' daily lived experience.</a:t>
            </a:r>
          </a:p>
          <a:p>
            <a:pPr>
              <a:spcAft>
                <a:spcPts val="600"/>
              </a:spcAft>
              <a:defRPr sz="1200">
                <a:solidFill>
                  <a:srgbClr val="F8FAFC"/>
                </a:solidFill>
                <a:latin typeface="Plus Jakarta Sans"/>
              </a:defRPr>
            </a:pPr>
            <a:r>
              <a:t>• Learners memorize without developing true architectural mental models.</a:t>
            </a:r>
          </a:p>
        </p:txBody>
      </p:sp>
      <p:sp>
        <p:nvSpPr>
          <p:cNvPr id="8" name="Rounded Rectangle 7"/>
          <p:cNvSpPr/>
          <p:nvPr/>
        </p:nvSpPr>
        <p:spPr>
          <a:xfrm>
            <a:off x="4389120" y="1645920"/>
            <a:ext cx="329184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74519"/>
            <a:ext cx="283464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2. High Cognitive Load &amp; Jargon</a:t>
            </a:r>
          </a:p>
          <a:p>
            <a:pPr>
              <a:spcAft>
                <a:spcPts val="600"/>
              </a:spcAft>
              <a:defRPr sz="1200">
                <a:solidFill>
                  <a:srgbClr val="F8FAFC"/>
                </a:solidFill>
                <a:latin typeface="Plus Jakarta Sans"/>
              </a:defRPr>
            </a:pPr>
            <a:r>
              <a:t>• Entra ID, RBAC, IaaS/PaaS/SaaS, SLA calculations feel like impenetrable walls.</a:t>
            </a:r>
          </a:p>
          <a:p>
            <a:pPr>
              <a:spcAft>
                <a:spcPts val="600"/>
              </a:spcAft>
              <a:defRPr sz="1200">
                <a:solidFill>
                  <a:srgbClr val="F8FAFC"/>
                </a:solidFill>
                <a:latin typeface="Plus Jakarta Sans"/>
              </a:defRPr>
            </a:pPr>
            <a:r>
              <a:t>• Over 65% of beginners drop out of self-study within the first two weeks due to intimidation.</a:t>
            </a:r>
          </a:p>
          <a:p>
            <a:pPr>
              <a:spcAft>
                <a:spcPts val="600"/>
              </a:spcAft>
              <a:defRPr sz="1200">
                <a:solidFill>
                  <a:srgbClr val="F8FAFC"/>
                </a:solidFill>
                <a:latin typeface="Plus Jakarta Sans"/>
              </a:defRPr>
            </a:pPr>
            <a:r>
              <a:t>• Rigid textbook phrasing lacks empathy and encouragement.</a:t>
            </a:r>
          </a:p>
        </p:txBody>
      </p:sp>
      <p:sp>
        <p:nvSpPr>
          <p:cNvPr id="10" name="Rounded Rectangle 9"/>
          <p:cNvSpPr/>
          <p:nvPr/>
        </p:nvSpPr>
        <p:spPr>
          <a:xfrm>
            <a:off x="8046720" y="1645920"/>
            <a:ext cx="3291840" cy="4389120"/>
          </a:xfrm>
          <a:prstGeom prst="roundRect">
            <a:avLst/>
          </a:prstGeom>
          <a:solidFill>
            <a:srgbClr val="16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2834640" cy="3931920"/>
          </a:xfrm>
          <a:prstGeom prst="rect">
            <a:avLst/>
          </a:prstGeom>
          <a:noFill/>
        </p:spPr>
        <p:txBody>
          <a:bodyPr wrap="square" lIns="0" tIns="0" rIns="0" bIns="0">
            <a:spAutoFit/>
          </a:bodyPr>
          <a:lstStyle/>
          <a:p>
            <a:pPr>
              <a:spcAft>
                <a:spcPts val="1000"/>
              </a:spcAft>
              <a:defRPr sz="1600" b="1">
                <a:solidFill>
                  <a:srgbClr val="06B6D4"/>
                </a:solidFill>
                <a:latin typeface="Outfit"/>
              </a:defRPr>
            </a:pPr>
            <a:r>
              <a:t>3. Multi-Lingual Disconnect</a:t>
            </a:r>
          </a:p>
          <a:p>
            <a:pPr>
              <a:spcAft>
                <a:spcPts val="600"/>
              </a:spcAft>
              <a:defRPr sz="1200">
                <a:solidFill>
                  <a:srgbClr val="F8FAFC"/>
                </a:solidFill>
                <a:latin typeface="Plus Jakarta Sans"/>
              </a:defRPr>
            </a:pPr>
            <a:r>
              <a:t>• African students think, reason, and develop intuition in their native languages (Swahili, Pidgin, Yoruba, Zulu).</a:t>
            </a:r>
          </a:p>
          <a:p>
            <a:pPr>
              <a:spcAft>
                <a:spcPts val="600"/>
              </a:spcAft>
              <a:defRPr sz="1200">
                <a:solidFill>
                  <a:srgbClr val="F8FAFC"/>
                </a:solidFill>
                <a:latin typeface="Plus Jakarta Sans"/>
              </a:defRPr>
            </a:pPr>
            <a:r>
              <a:t>• Official Microsoft materials exist almost exclusively in English or non-African languages.</a:t>
            </a:r>
          </a:p>
          <a:p>
            <a:pPr>
              <a:spcAft>
                <a:spcPts val="600"/>
              </a:spcAft>
              <a:defRPr sz="1200">
                <a:solidFill>
                  <a:srgbClr val="F8FAFC"/>
                </a:solidFill>
                <a:latin typeface="Plus Jakarta Sans"/>
              </a:defRPr>
            </a:pPr>
            <a:r>
              <a:t>• No culturally responsive AI tutor existed to unlock bilingual comprehension.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SOLUTION &amp; PRODUCT • 25% RUBRIC WEIGHT</a:t>
            </a:r>
          </a:p>
          <a:p>
            <a:pPr>
              <a:defRPr sz="2800" b="1">
                <a:solidFill>
                  <a:srgbClr val="F8FAFC"/>
                </a:solidFill>
                <a:latin typeface="Outfit"/>
              </a:defRPr>
            </a:pPr>
            <a:r>
              <a:t>The Solution: Culturally Grounded Pedagogical Framework</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329184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83464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Part 1: The Direct Analogy</a:t>
            </a:r>
          </a:p>
          <a:p>
            <a:pPr>
              <a:spcAft>
                <a:spcPts val="600"/>
              </a:spcAft>
              <a:defRPr sz="1200">
                <a:solidFill>
                  <a:srgbClr val="F8FAFC"/>
                </a:solidFill>
                <a:latin typeface="Plus Jakarta Sans"/>
              </a:defRPr>
            </a:pPr>
            <a:r>
              <a:t>• Immediately anchors the concept in relatable African life.</a:t>
            </a:r>
          </a:p>
          <a:p>
            <a:pPr>
              <a:spcAft>
                <a:spcPts val="600"/>
              </a:spcAft>
              <a:defRPr sz="1200">
                <a:solidFill>
                  <a:srgbClr val="F8FAFC"/>
                </a:solidFill>
                <a:latin typeface="Plus Jakarta Sans"/>
              </a:defRPr>
            </a:pPr>
            <a:r>
              <a:t>• Azure Regions → Balogun, Merkato, Kariakoo Market trading hubs.</a:t>
            </a:r>
          </a:p>
          <a:p>
            <a:pPr>
              <a:spcAft>
                <a:spcPts val="600"/>
              </a:spcAft>
              <a:defRPr sz="1200">
                <a:solidFill>
                  <a:srgbClr val="F8FAFC"/>
                </a:solidFill>
                <a:latin typeface="Plus Jakarta Sans"/>
              </a:defRPr>
            </a:pPr>
            <a:r>
              <a:t>• Blob Storage Tiers → The village yam barn &amp; granary.</a:t>
            </a:r>
          </a:p>
          <a:p>
            <a:pPr>
              <a:spcAft>
                <a:spcPts val="600"/>
              </a:spcAft>
              <a:defRPr sz="1200">
                <a:solidFill>
                  <a:srgbClr val="F8FAFC"/>
                </a:solidFill>
                <a:latin typeface="Plus Jakarta Sans"/>
              </a:defRPr>
            </a:pPr>
            <a:r>
              <a:t>• Serverless / Functions → Street cobbler &amp; M-Pesa agents.</a:t>
            </a:r>
          </a:p>
          <a:p>
            <a:pPr>
              <a:spcAft>
                <a:spcPts val="600"/>
              </a:spcAft>
              <a:defRPr sz="1200">
                <a:solidFill>
                  <a:srgbClr val="F8FAFC"/>
                </a:solidFill>
                <a:latin typeface="Plus Jakarta Sans"/>
              </a:defRPr>
            </a:pPr>
            <a:r>
              <a:t>• Resource Groups → Chama &amp; Sacco project bags.</a:t>
            </a:r>
          </a:p>
        </p:txBody>
      </p:sp>
      <p:sp>
        <p:nvSpPr>
          <p:cNvPr id="8" name="Rounded Rectangle 7"/>
          <p:cNvSpPr/>
          <p:nvPr/>
        </p:nvSpPr>
        <p:spPr>
          <a:xfrm>
            <a:off x="4389120" y="1645920"/>
            <a:ext cx="3291840" cy="4389120"/>
          </a:xfrm>
          <a:prstGeom prst="roundRect">
            <a:avLst/>
          </a:prstGeom>
          <a:solidFill>
            <a:srgbClr val="16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74519"/>
            <a:ext cx="2834640" cy="3931920"/>
          </a:xfrm>
          <a:prstGeom prst="rect">
            <a:avLst/>
          </a:prstGeom>
          <a:noFill/>
        </p:spPr>
        <p:txBody>
          <a:bodyPr wrap="square" lIns="0" tIns="0" rIns="0" bIns="0">
            <a:spAutoFit/>
          </a:bodyPr>
          <a:lstStyle/>
          <a:p>
            <a:pPr>
              <a:spcAft>
                <a:spcPts val="1000"/>
              </a:spcAft>
              <a:defRPr sz="1600" b="1">
                <a:solidFill>
                  <a:srgbClr val="06B6D4"/>
                </a:solidFill>
                <a:latin typeface="Outfit"/>
              </a:defRPr>
            </a:pPr>
            <a:r>
              <a:t>Part 2: The Azure Definition</a:t>
            </a:r>
          </a:p>
          <a:p>
            <a:pPr>
              <a:spcAft>
                <a:spcPts val="600"/>
              </a:spcAft>
              <a:defRPr sz="1200">
                <a:solidFill>
                  <a:srgbClr val="F8FAFC"/>
                </a:solidFill>
                <a:latin typeface="Plus Jakarta Sans"/>
              </a:defRPr>
            </a:pPr>
            <a:r>
              <a:t>• Seamlessly translates analogy into accurate technical terms.</a:t>
            </a:r>
          </a:p>
          <a:p>
            <a:pPr>
              <a:spcAft>
                <a:spcPts val="600"/>
              </a:spcAft>
              <a:defRPr sz="1200">
                <a:solidFill>
                  <a:srgbClr val="F8FAFC"/>
                </a:solidFill>
                <a:latin typeface="Plus Jakarta Sans"/>
              </a:defRPr>
            </a:pPr>
            <a:r>
              <a:t>• Rigorous alignment with official AZ-900 skills outline.</a:t>
            </a:r>
          </a:p>
          <a:p>
            <a:pPr>
              <a:spcAft>
                <a:spcPts val="600"/>
              </a:spcAft>
              <a:defRPr sz="1200">
                <a:solidFill>
                  <a:srgbClr val="F8FAFC"/>
                </a:solidFill>
                <a:latin typeface="Plus Jakarta Sans"/>
              </a:defRPr>
            </a:pPr>
            <a:r>
              <a:t>• Highlights key differentiators tested on the exam (e.g., OpEx vs CapEx, Archive tier rehydration latency).</a:t>
            </a:r>
          </a:p>
          <a:p>
            <a:pPr>
              <a:spcAft>
                <a:spcPts val="600"/>
              </a:spcAft>
              <a:defRPr sz="1200">
                <a:solidFill>
                  <a:srgbClr val="F8FAFC"/>
                </a:solidFill>
                <a:latin typeface="Plus Jakarta Sans"/>
              </a:defRPr>
            </a:pPr>
            <a:r>
              <a:t>• Zero dumbing down of enterprise engineering standards.</a:t>
            </a:r>
          </a:p>
        </p:txBody>
      </p:sp>
      <p:sp>
        <p:nvSpPr>
          <p:cNvPr id="10" name="Rounded Rectangle 9"/>
          <p:cNvSpPr/>
          <p:nvPr/>
        </p:nvSpPr>
        <p:spPr>
          <a:xfrm>
            <a:off x="8046720" y="1645920"/>
            <a:ext cx="3291840" cy="4389120"/>
          </a:xfrm>
          <a:prstGeom prst="roundRect">
            <a:avLst/>
          </a:prstGeom>
          <a:solidFill>
            <a:srgbClr val="16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2834640" cy="3931920"/>
          </a:xfrm>
          <a:prstGeom prst="rect">
            <a:avLst/>
          </a:prstGeom>
          <a:noFill/>
        </p:spPr>
        <p:txBody>
          <a:bodyPr wrap="square" lIns="0" tIns="0" rIns="0" bIns="0">
            <a:spAutoFit/>
          </a:bodyPr>
          <a:lstStyle/>
          <a:p>
            <a:pPr>
              <a:spcAft>
                <a:spcPts val="1000"/>
              </a:spcAft>
              <a:defRPr sz="1600" b="1">
                <a:solidFill>
                  <a:srgbClr val="10B981"/>
                </a:solidFill>
                <a:latin typeface="Outfit"/>
              </a:defRPr>
            </a:pPr>
            <a:r>
              <a:t>Part 3: Multi-Lingual Summary</a:t>
            </a:r>
          </a:p>
          <a:p>
            <a:pPr>
              <a:spcAft>
                <a:spcPts val="600"/>
              </a:spcAft>
              <a:defRPr sz="1200">
                <a:solidFill>
                  <a:srgbClr val="F8FAFC"/>
                </a:solidFill>
                <a:latin typeface="Plus Jakarta Sans"/>
              </a:defRPr>
            </a:pPr>
            <a:r>
              <a:t>• 1–2 sentence punchy micro-summary in 4 major dialects:</a:t>
            </a:r>
          </a:p>
          <a:p>
            <a:pPr>
              <a:spcAft>
                <a:spcPts val="600"/>
              </a:spcAft>
              <a:defRPr sz="1200">
                <a:solidFill>
                  <a:srgbClr val="F8FAFC"/>
                </a:solidFill>
                <a:latin typeface="Plus Jakarta Sans"/>
              </a:defRPr>
            </a:pPr>
            <a:r>
              <a:t>• 🇳🇬 Nigerian Pidgin ('No shaking, na landlord deal!')</a:t>
            </a:r>
          </a:p>
          <a:p>
            <a:pPr>
              <a:spcAft>
                <a:spcPts val="600"/>
              </a:spcAft>
              <a:defRPr sz="1200">
                <a:solidFill>
                  <a:srgbClr val="F8FAFC"/>
                </a:solidFill>
                <a:latin typeface="Plus Jakarta Sans"/>
              </a:defRPr>
            </a:pPr>
            <a:r>
              <a:t>• 🇰🇪 Kiswahili ('Kompyuta ya wingu ni kama Luku')</a:t>
            </a:r>
          </a:p>
          <a:p>
            <a:pPr>
              <a:spcAft>
                <a:spcPts val="600"/>
              </a:spcAft>
              <a:defRPr sz="1200">
                <a:solidFill>
                  <a:srgbClr val="F8FAFC"/>
                </a:solidFill>
                <a:latin typeface="Plus Jakarta Sans"/>
              </a:defRPr>
            </a:pPr>
            <a:r>
              <a:t>• 🇳🇬 Yorùbá ('O n sanwo fun eyi to n lo nikan')</a:t>
            </a:r>
          </a:p>
          <a:p>
            <a:pPr>
              <a:spcAft>
                <a:spcPts val="600"/>
              </a:spcAft>
              <a:defRPr sz="1200">
                <a:solidFill>
                  <a:srgbClr val="F8FAFC"/>
                </a:solidFill>
                <a:latin typeface="Plus Jakarta Sans"/>
              </a:defRPr>
            </a:pPr>
            <a:r>
              <a:t>• 🇿🇦 isiZulu ('Ukhokhela lokho okusebenzisayo')</a:t>
            </a:r>
          </a:p>
          <a:p>
            <a:pPr>
              <a:spcAft>
                <a:spcPts val="600"/>
              </a:spcAft>
              <a:defRPr sz="1200">
                <a:solidFill>
                  <a:srgbClr val="F8FAFC"/>
                </a:solidFill>
                <a:latin typeface="Plus Jakarta Sans"/>
              </a:defRPr>
            </a:pPr>
            <a:r>
              <a:t>• Locks in conceptual memory permanently.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SOLUTION &amp; PRODUCT • EXPERIENCE DESIGN</a:t>
            </a:r>
          </a:p>
          <a:p>
            <a:pPr>
              <a:defRPr sz="2800" b="1">
                <a:solidFill>
                  <a:srgbClr val="F8FAFC"/>
                </a:solidFill>
                <a:latin typeface="Outfit"/>
              </a:defRPr>
            </a:pPr>
            <a:r>
              <a:t>Dual Personas: Empathetic Guidance Meets Tech Bro Banter</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512064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66344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 Mama Cloud: The Wise Tech Mother</a:t>
            </a:r>
          </a:p>
          <a:p>
            <a:pPr>
              <a:spcAft>
                <a:spcPts val="600"/>
              </a:spcAft>
              <a:defRPr sz="1200">
                <a:solidFill>
                  <a:srgbClr val="F8FAFC"/>
                </a:solidFill>
                <a:latin typeface="Plus Jakarta Sans"/>
              </a:defRPr>
            </a:pPr>
            <a:r>
              <a:t>• Tone: Warm, deeply maternal, encouraging, patient.</a:t>
            </a:r>
          </a:p>
          <a:p>
            <a:pPr>
              <a:spcAft>
                <a:spcPts val="600"/>
              </a:spcAft>
              <a:defRPr sz="1200">
                <a:solidFill>
                  <a:srgbClr val="F8FAFC"/>
                </a:solidFill>
                <a:latin typeface="Plus Jakarta Sans"/>
              </a:defRPr>
            </a:pPr>
            <a:r>
              <a:t>• Greeting: 'E kaabo! Karibu sana mwanangu! Listen to mama, cloud is just African common sense.'</a:t>
            </a:r>
          </a:p>
          <a:p>
            <a:pPr>
              <a:spcAft>
                <a:spcPts val="600"/>
              </a:spcAft>
              <a:defRPr sz="1200">
                <a:solidFill>
                  <a:srgbClr val="F8FAFC"/>
                </a:solidFill>
                <a:latin typeface="Plus Jakarta Sans"/>
              </a:defRPr>
            </a:pPr>
            <a:r>
              <a:t>• Audience: Beginners, non-technical professionals, career switchers who experience imposter syndrome.</a:t>
            </a:r>
          </a:p>
          <a:p>
            <a:pPr>
              <a:spcAft>
                <a:spcPts val="600"/>
              </a:spcAft>
              <a:defRPr sz="1200">
                <a:solidFill>
                  <a:srgbClr val="F8FAFC"/>
                </a:solidFill>
                <a:latin typeface="Plus Jakarta Sans"/>
              </a:defRPr>
            </a:pPr>
            <a:r>
              <a:t>• Philosophy: Nurturing confidence and dismantling fear through storytelling and maternal blessings.</a:t>
            </a:r>
          </a:p>
        </p:txBody>
      </p:sp>
      <p:sp>
        <p:nvSpPr>
          <p:cNvPr id="8" name="Rounded Rectangle 7"/>
          <p:cNvSpPr/>
          <p:nvPr/>
        </p:nvSpPr>
        <p:spPr>
          <a:xfrm>
            <a:off x="6217920" y="1645920"/>
            <a:ext cx="5120640" cy="4389120"/>
          </a:xfrm>
          <a:prstGeom prst="roundRect">
            <a:avLst/>
          </a:prstGeom>
          <a:solidFill>
            <a:srgbClr val="161E31"/>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19"/>
            <a:ext cx="4663440" cy="3931920"/>
          </a:xfrm>
          <a:prstGeom prst="rect">
            <a:avLst/>
          </a:prstGeom>
          <a:noFill/>
        </p:spPr>
        <p:txBody>
          <a:bodyPr wrap="square" lIns="0" tIns="0" rIns="0" bIns="0">
            <a:spAutoFit/>
          </a:bodyPr>
          <a:lstStyle/>
          <a:p>
            <a:pPr>
              <a:spcAft>
                <a:spcPts val="1000"/>
              </a:spcAft>
              <a:defRPr sz="1600" b="1">
                <a:solidFill>
                  <a:srgbClr val="FF6B4A"/>
                </a:solidFill>
                <a:latin typeface="Outfit"/>
              </a:defRPr>
            </a:pPr>
            <a:r>
              <a:t>👨🏾‍💻 Bro Cloud: The Hype Tech Co-Pilot</a:t>
            </a:r>
          </a:p>
          <a:p>
            <a:pPr>
              <a:spcAft>
                <a:spcPts val="600"/>
              </a:spcAft>
              <a:defRPr sz="1200">
                <a:solidFill>
                  <a:srgbClr val="F8FAFC"/>
                </a:solidFill>
                <a:latin typeface="Plus Jakarta Sans"/>
              </a:defRPr>
            </a:pPr>
            <a:r>
              <a:t>• Tone: Energetic, peer-level, tech bro banter, punchy.</a:t>
            </a:r>
          </a:p>
          <a:p>
            <a:pPr>
              <a:spcAft>
                <a:spcPts val="600"/>
              </a:spcAft>
              <a:defRPr sz="1200">
                <a:solidFill>
                  <a:srgbClr val="F8FAFC"/>
                </a:solidFill>
                <a:latin typeface="Plus Jakarta Sans"/>
              </a:defRPr>
            </a:pPr>
            <a:r>
              <a:t>• Greeting: 'What's good my tech chief! No shaking fam, let's vibe code and crush this AZ-900 exam!'</a:t>
            </a:r>
          </a:p>
          <a:p>
            <a:pPr>
              <a:spcAft>
                <a:spcPts val="600"/>
              </a:spcAft>
              <a:defRPr sz="1200">
                <a:solidFill>
                  <a:srgbClr val="F8FAFC"/>
                </a:solidFill>
                <a:latin typeface="Plus Jakarta Sans"/>
              </a:defRPr>
            </a:pPr>
            <a:r>
              <a:t>• Audience: University students, bootcamp coders, hackathon participants who want speed and hype.</a:t>
            </a:r>
          </a:p>
          <a:p>
            <a:pPr>
              <a:spcAft>
                <a:spcPts val="600"/>
              </a:spcAft>
              <a:defRPr sz="1200">
                <a:solidFill>
                  <a:srgbClr val="F8FAFC"/>
                </a:solidFill>
                <a:latin typeface="Plus Jakarta Sans"/>
              </a:defRPr>
            </a:pPr>
            <a:r>
              <a:t>• Philosophy: High-energy accountability partner who keeps study sessions fun and competitive.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PRODUCT &amp; ARCHITECTURE • LIVE WORKING PROTOTYPE</a:t>
            </a:r>
          </a:p>
          <a:p>
            <a:pPr>
              <a:defRPr sz="2800" b="1">
                <a:solidFill>
                  <a:srgbClr val="F8FAFC"/>
                </a:solidFill>
                <a:latin typeface="Outfit"/>
              </a:defRPr>
            </a:pPr>
            <a:r>
              <a:t>Interactive Platform Tour: 4 Core Modules Built &amp; Running</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246888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01168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1. AI Study Buddy</a:t>
            </a:r>
          </a:p>
          <a:p>
            <a:pPr>
              <a:spcAft>
                <a:spcPts val="600"/>
              </a:spcAft>
              <a:defRPr sz="1200">
                <a:solidFill>
                  <a:srgbClr val="F8FAFC"/>
                </a:solidFill>
                <a:latin typeface="Plus Jakarta Sans"/>
              </a:defRPr>
            </a:pPr>
            <a:r>
              <a:t>• Natural language Q&amp;A.</a:t>
            </a:r>
          </a:p>
          <a:p>
            <a:pPr>
              <a:spcAft>
                <a:spcPts val="600"/>
              </a:spcAft>
              <a:defRPr sz="1200">
                <a:solidFill>
                  <a:srgbClr val="F8FAFC"/>
                </a:solidFill>
                <a:latin typeface="Plus Jakarta Sans"/>
              </a:defRPr>
            </a:pPr>
            <a:r>
              <a:t>• Real-time 3-part structured responses.</a:t>
            </a:r>
          </a:p>
          <a:p>
            <a:pPr>
              <a:spcAft>
                <a:spcPts val="600"/>
              </a:spcAft>
              <a:defRPr sz="1200">
                <a:solidFill>
                  <a:srgbClr val="F8FAFC"/>
                </a:solidFill>
                <a:latin typeface="Plus Jakarta Sans"/>
              </a:defRPr>
            </a:pPr>
            <a:r>
              <a:t>• Web Speech API audio read-aloud for audio learners.</a:t>
            </a:r>
          </a:p>
          <a:p>
            <a:pPr>
              <a:spcAft>
                <a:spcPts val="600"/>
              </a:spcAft>
              <a:defRPr sz="1200">
                <a:solidFill>
                  <a:srgbClr val="F8FAFC"/>
                </a:solidFill>
                <a:latin typeface="Plus Jakarta Sans"/>
              </a:defRPr>
            </a:pPr>
            <a:r>
              <a:t>• Instant dialect switcher.</a:t>
            </a:r>
          </a:p>
        </p:txBody>
      </p:sp>
      <p:sp>
        <p:nvSpPr>
          <p:cNvPr id="8" name="Rounded Rectangle 7"/>
          <p:cNvSpPr/>
          <p:nvPr/>
        </p:nvSpPr>
        <p:spPr>
          <a:xfrm>
            <a:off x="3474720" y="1645920"/>
            <a:ext cx="2468880" cy="4389120"/>
          </a:xfrm>
          <a:prstGeom prst="roundRect">
            <a:avLst/>
          </a:prstGeom>
          <a:solidFill>
            <a:srgbClr val="16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874519"/>
            <a:ext cx="2011680" cy="3931920"/>
          </a:xfrm>
          <a:prstGeom prst="rect">
            <a:avLst/>
          </a:prstGeom>
          <a:noFill/>
        </p:spPr>
        <p:txBody>
          <a:bodyPr wrap="square" lIns="0" tIns="0" rIns="0" bIns="0">
            <a:spAutoFit/>
          </a:bodyPr>
          <a:lstStyle/>
          <a:p>
            <a:pPr>
              <a:spcAft>
                <a:spcPts val="1000"/>
              </a:spcAft>
              <a:defRPr sz="1600" b="1">
                <a:solidFill>
                  <a:srgbClr val="06B6D4"/>
                </a:solidFill>
                <a:latin typeface="Outfit"/>
              </a:defRPr>
            </a:pPr>
            <a:r>
              <a:t>2. Analogies Dictionary</a:t>
            </a:r>
          </a:p>
          <a:p>
            <a:pPr>
              <a:spcAft>
                <a:spcPts val="600"/>
              </a:spcAft>
              <a:defRPr sz="1200">
                <a:solidFill>
                  <a:srgbClr val="F8FAFC"/>
                </a:solidFill>
                <a:latin typeface="Plus Jakarta Sans"/>
              </a:defRPr>
            </a:pPr>
            <a:r>
              <a:t>• 14+ comprehensive visual cards.</a:t>
            </a:r>
          </a:p>
          <a:p>
            <a:pPr>
              <a:spcAft>
                <a:spcPts val="600"/>
              </a:spcAft>
              <a:defRPr sz="1200">
                <a:solidFill>
                  <a:srgbClr val="F8FAFC"/>
                </a:solidFill>
                <a:latin typeface="Plus Jakarta Sans"/>
              </a:defRPr>
            </a:pPr>
            <a:r>
              <a:t>• Search &amp; filter across all 3 AZ-900 domains.</a:t>
            </a:r>
          </a:p>
          <a:p>
            <a:pPr>
              <a:spcAft>
                <a:spcPts val="600"/>
              </a:spcAft>
              <a:defRPr sz="1200">
                <a:solidFill>
                  <a:srgbClr val="F8FAFC"/>
                </a:solidFill>
                <a:latin typeface="Plus Jakarta Sans"/>
              </a:defRPr>
            </a:pPr>
            <a:r>
              <a:t>• Deep-dive modals with full linguistic breakdowns.</a:t>
            </a:r>
          </a:p>
          <a:p>
            <a:pPr>
              <a:spcAft>
                <a:spcPts val="600"/>
              </a:spcAft>
              <a:defRPr sz="1200">
                <a:solidFill>
                  <a:srgbClr val="F8FAFC"/>
                </a:solidFill>
                <a:latin typeface="Plus Jakarta Sans"/>
              </a:defRPr>
            </a:pPr>
            <a:r>
              <a:t>• Exam traps &amp; tips.</a:t>
            </a:r>
          </a:p>
        </p:txBody>
      </p:sp>
      <p:sp>
        <p:nvSpPr>
          <p:cNvPr id="10" name="Rounded Rectangle 9"/>
          <p:cNvSpPr/>
          <p:nvPr/>
        </p:nvSpPr>
        <p:spPr>
          <a:xfrm>
            <a:off x="6217920" y="1645920"/>
            <a:ext cx="2468880" cy="4389120"/>
          </a:xfrm>
          <a:prstGeom prst="roundRect">
            <a:avLst/>
          </a:prstGeom>
          <a:solidFill>
            <a:srgbClr val="161E31"/>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74519"/>
            <a:ext cx="2011680" cy="3931920"/>
          </a:xfrm>
          <a:prstGeom prst="rect">
            <a:avLst/>
          </a:prstGeom>
          <a:noFill/>
        </p:spPr>
        <p:txBody>
          <a:bodyPr wrap="square" lIns="0" tIns="0" rIns="0" bIns="0">
            <a:spAutoFit/>
          </a:bodyPr>
          <a:lstStyle/>
          <a:p>
            <a:pPr>
              <a:spcAft>
                <a:spcPts val="1000"/>
              </a:spcAft>
              <a:defRPr sz="1600" b="1">
                <a:solidFill>
                  <a:srgbClr val="FF6B4A"/>
                </a:solidFill>
                <a:latin typeface="Outfit"/>
              </a:defRPr>
            </a:pPr>
            <a:r>
              <a:t>3. Exam Simulator</a:t>
            </a:r>
          </a:p>
          <a:p>
            <a:pPr>
              <a:spcAft>
                <a:spcPts val="600"/>
              </a:spcAft>
              <a:defRPr sz="1200">
                <a:solidFill>
                  <a:srgbClr val="F8FAFC"/>
                </a:solidFill>
                <a:latin typeface="Plus Jakarta Sans"/>
              </a:defRPr>
            </a:pPr>
            <a:r>
              <a:t>• 5-Question Vibe Check.</a:t>
            </a:r>
          </a:p>
          <a:p>
            <a:pPr>
              <a:spcAft>
                <a:spcPts val="600"/>
              </a:spcAft>
              <a:defRPr sz="1200">
                <a:solidFill>
                  <a:srgbClr val="F8FAFC"/>
                </a:solidFill>
                <a:latin typeface="Plus Jakarta Sans"/>
              </a:defRPr>
            </a:pPr>
            <a:r>
              <a:t>• Domain 1, 2 &amp; 3 drills.</a:t>
            </a:r>
          </a:p>
          <a:p>
            <a:pPr>
              <a:spcAft>
                <a:spcPts val="600"/>
              </a:spcAft>
              <a:defRPr sz="1200">
                <a:solidFill>
                  <a:srgbClr val="F8FAFC"/>
                </a:solidFill>
                <a:latin typeface="Plus Jakarta Sans"/>
              </a:defRPr>
            </a:pPr>
            <a:r>
              <a:t>• 25-Question timed mock with 1000-point Azure scale.</a:t>
            </a:r>
          </a:p>
          <a:p>
            <a:pPr>
              <a:spcAft>
                <a:spcPts val="600"/>
              </a:spcAft>
              <a:defRPr sz="1200">
                <a:solidFill>
                  <a:srgbClr val="F8FAFC"/>
                </a:solidFill>
                <a:latin typeface="Plus Jakarta Sans"/>
              </a:defRPr>
            </a:pPr>
            <a:r>
              <a:t>• 100% original, community-written questions.</a:t>
            </a:r>
          </a:p>
        </p:txBody>
      </p:sp>
      <p:sp>
        <p:nvSpPr>
          <p:cNvPr id="12" name="Rounded Rectangle 11"/>
          <p:cNvSpPr/>
          <p:nvPr/>
        </p:nvSpPr>
        <p:spPr>
          <a:xfrm>
            <a:off x="8961120" y="1645920"/>
            <a:ext cx="2468880" cy="4389120"/>
          </a:xfrm>
          <a:prstGeom prst="roundRect">
            <a:avLst/>
          </a:prstGeom>
          <a:solidFill>
            <a:srgbClr val="16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89720" y="1874519"/>
            <a:ext cx="2011680" cy="3931920"/>
          </a:xfrm>
          <a:prstGeom prst="rect">
            <a:avLst/>
          </a:prstGeom>
          <a:noFill/>
        </p:spPr>
        <p:txBody>
          <a:bodyPr wrap="square" lIns="0" tIns="0" rIns="0" bIns="0">
            <a:spAutoFit/>
          </a:bodyPr>
          <a:lstStyle/>
          <a:p>
            <a:pPr>
              <a:spcAft>
                <a:spcPts val="1000"/>
              </a:spcAft>
              <a:defRPr sz="1600" b="1">
                <a:solidFill>
                  <a:srgbClr val="10B981"/>
                </a:solidFill>
                <a:latin typeface="Outfit"/>
              </a:defRPr>
            </a:pPr>
            <a:r>
              <a:t>4. Flashcards &amp; Certs</a:t>
            </a:r>
          </a:p>
          <a:p>
            <a:pPr>
              <a:spcAft>
                <a:spcPts val="600"/>
              </a:spcAft>
              <a:defRPr sz="1200">
                <a:solidFill>
                  <a:srgbClr val="F8FAFC"/>
                </a:solidFill>
                <a:latin typeface="Plus Jakarta Sans"/>
              </a:defRPr>
            </a:pPr>
            <a:r>
              <a:t>• 3D CSS flippable recall cards with mnemonics.</a:t>
            </a:r>
          </a:p>
          <a:p>
            <a:pPr>
              <a:spcAft>
                <a:spcPts val="600"/>
              </a:spcAft>
              <a:defRPr sz="1200">
                <a:solidFill>
                  <a:srgbClr val="F8FAFC"/>
                </a:solidFill>
                <a:latin typeface="Plus Jakarta Sans"/>
              </a:defRPr>
            </a:pPr>
            <a:r>
              <a:t>• HTML5 Canvas Certificate Generator.</a:t>
            </a:r>
          </a:p>
          <a:p>
            <a:pPr>
              <a:spcAft>
                <a:spcPts val="600"/>
              </a:spcAft>
              <a:defRPr sz="1200">
                <a:solidFill>
                  <a:srgbClr val="F8FAFC"/>
                </a:solidFill>
                <a:latin typeface="Plus Jakarta Sans"/>
              </a:defRPr>
            </a:pPr>
            <a:r>
              <a:t>• Exportable high-res PNG for LinkedIn/WhatsApp.</a:t>
            </a:r>
          </a:p>
          <a:p>
            <a:pPr>
              <a:spcAft>
                <a:spcPts val="600"/>
              </a:spcAft>
              <a:defRPr sz="1200">
                <a:solidFill>
                  <a:srgbClr val="F8FAFC"/>
                </a:solidFill>
                <a:latin typeface="Plus Jakarta Sans"/>
              </a:defRPr>
            </a:pPr>
            <a:r>
              <a:t>• Local streak tracking.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TARGET USERS • 15% RUBRIC WEIGHT</a:t>
            </a:r>
          </a:p>
          <a:p>
            <a:pPr>
              <a:defRPr sz="2800" b="1">
                <a:solidFill>
                  <a:srgbClr val="F8FAFC"/>
                </a:solidFill>
                <a:latin typeface="Outfit"/>
              </a:defRPr>
            </a:pPr>
            <a:r>
              <a:t>Target Users: Built for the Realities of African Tech Learners</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3291840" cy="4389120"/>
          </a:xfrm>
          <a:prstGeom prst="roundRect">
            <a:avLst/>
          </a:prstGeom>
          <a:solidFill>
            <a:srgbClr val="16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834640" cy="3931920"/>
          </a:xfrm>
          <a:prstGeom prst="rect">
            <a:avLst/>
          </a:prstGeom>
          <a:noFill/>
        </p:spPr>
        <p:txBody>
          <a:bodyPr wrap="square" lIns="0" tIns="0" rIns="0" bIns="0">
            <a:spAutoFit/>
          </a:bodyPr>
          <a:lstStyle/>
          <a:p>
            <a:pPr>
              <a:spcAft>
                <a:spcPts val="1000"/>
              </a:spcAft>
              <a:defRPr sz="1600" b="1">
                <a:solidFill>
                  <a:srgbClr val="06B6D4"/>
                </a:solidFill>
                <a:latin typeface="Outfit"/>
              </a:defRPr>
            </a:pPr>
            <a:r>
              <a:t>Amina (Nairobi, Kenya)</a:t>
            </a:r>
          </a:p>
          <a:p>
            <a:pPr>
              <a:spcAft>
                <a:spcPts val="600"/>
              </a:spcAft>
              <a:defRPr sz="1200">
                <a:solidFill>
                  <a:srgbClr val="F8FAFC"/>
                </a:solidFill>
                <a:latin typeface="Plus Jakarta Sans"/>
              </a:defRPr>
            </a:pPr>
            <a:r>
              <a:t>• Profile: 2nd-year CS student, preparing for her first cloud certification.</a:t>
            </a:r>
          </a:p>
          <a:p>
            <a:pPr>
              <a:spcAft>
                <a:spcPts val="600"/>
              </a:spcAft>
              <a:defRPr sz="1200">
                <a:solidFill>
                  <a:srgbClr val="F8FAFC"/>
                </a:solidFill>
                <a:latin typeface="Plus Jakarta Sans"/>
              </a:defRPr>
            </a:pPr>
            <a:r>
              <a:t>• Constraint: Limited mobile data bundle; intermittent campus power.</a:t>
            </a:r>
          </a:p>
          <a:p>
            <a:pPr>
              <a:spcAft>
                <a:spcPts val="600"/>
              </a:spcAft>
              <a:defRPr sz="1200">
                <a:solidFill>
                  <a:srgbClr val="F8FAFC"/>
                </a:solidFill>
                <a:latin typeface="Plus Jakarta Sans"/>
              </a:defRPr>
            </a:pPr>
            <a:r>
              <a:t>• How she uses Mama Cloud: Reads the offline-friendly analogies on her phone during her commute in the Matatu; listens to audio summaries without burning heavy video bandwidth.</a:t>
            </a:r>
          </a:p>
        </p:txBody>
      </p:sp>
      <p:sp>
        <p:nvSpPr>
          <p:cNvPr id="8" name="Rounded Rectangle 7"/>
          <p:cNvSpPr/>
          <p:nvPr/>
        </p:nvSpPr>
        <p:spPr>
          <a:xfrm>
            <a:off x="4389120" y="1645920"/>
            <a:ext cx="329184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74519"/>
            <a:ext cx="283464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Chidi (Lagos, Nigeria)</a:t>
            </a:r>
          </a:p>
          <a:p>
            <a:pPr>
              <a:spcAft>
                <a:spcPts val="600"/>
              </a:spcAft>
              <a:defRPr sz="1200">
                <a:solidFill>
                  <a:srgbClr val="F8FAFC"/>
                </a:solidFill>
                <a:latin typeface="Plus Jakarta Sans"/>
              </a:defRPr>
            </a:pPr>
            <a:r>
              <a:t>• Profile: Self-taught React developer pivoting to Cloud &amp; DevOps.</a:t>
            </a:r>
          </a:p>
          <a:p>
            <a:pPr>
              <a:spcAft>
                <a:spcPts val="600"/>
              </a:spcAft>
              <a:defRPr sz="1200">
                <a:solidFill>
                  <a:srgbClr val="F8FAFC"/>
                </a:solidFill>
                <a:latin typeface="Plus Jakarta Sans"/>
              </a:defRPr>
            </a:pPr>
            <a:r>
              <a:t>• Constraint: Intimidated by enterprise networking (VNet, ExpressRoute, VPN).</a:t>
            </a:r>
          </a:p>
          <a:p>
            <a:pPr>
              <a:spcAft>
                <a:spcPts val="600"/>
              </a:spcAft>
              <a:defRPr sz="1200">
                <a:solidFill>
                  <a:srgbClr val="F8FAFC"/>
                </a:solidFill>
                <a:latin typeface="Plus Jakarta Sans"/>
              </a:defRPr>
            </a:pPr>
            <a:r>
              <a:t>• How he uses Bro Cloud: Drills through the 5-Question Vibe Check daily; uses Bro Cloud's street analogies to understand CIDR blocks and compound fencing.</a:t>
            </a:r>
          </a:p>
        </p:txBody>
      </p:sp>
      <p:sp>
        <p:nvSpPr>
          <p:cNvPr id="10" name="Rounded Rectangle 9"/>
          <p:cNvSpPr/>
          <p:nvPr/>
        </p:nvSpPr>
        <p:spPr>
          <a:xfrm>
            <a:off x="8046720" y="1645920"/>
            <a:ext cx="3291840" cy="4389120"/>
          </a:xfrm>
          <a:prstGeom prst="roundRect">
            <a:avLst/>
          </a:prstGeom>
          <a:solidFill>
            <a:srgbClr val="16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2834640" cy="3931920"/>
          </a:xfrm>
          <a:prstGeom prst="rect">
            <a:avLst/>
          </a:prstGeom>
          <a:noFill/>
        </p:spPr>
        <p:txBody>
          <a:bodyPr wrap="square" lIns="0" tIns="0" rIns="0" bIns="0">
            <a:spAutoFit/>
          </a:bodyPr>
          <a:lstStyle/>
          <a:p>
            <a:pPr>
              <a:spcAft>
                <a:spcPts val="1000"/>
              </a:spcAft>
              <a:defRPr sz="1600" b="1">
                <a:solidFill>
                  <a:srgbClr val="10B981"/>
                </a:solidFill>
                <a:latin typeface="Outfit"/>
              </a:defRPr>
            </a:pPr>
            <a:r>
              <a:t>Sipho (Joburg, South Africa)</a:t>
            </a:r>
          </a:p>
          <a:p>
            <a:pPr>
              <a:spcAft>
                <a:spcPts val="600"/>
              </a:spcAft>
              <a:defRPr sz="1200">
                <a:solidFill>
                  <a:srgbClr val="F8FAFC"/>
                </a:solidFill>
                <a:latin typeface="Plus Jakarta Sans"/>
              </a:defRPr>
            </a:pPr>
            <a:r>
              <a:t>• Profile: Non-technical banking operations analyst.</a:t>
            </a:r>
          </a:p>
          <a:p>
            <a:pPr>
              <a:spcAft>
                <a:spcPts val="600"/>
              </a:spcAft>
              <a:defRPr sz="1200">
                <a:solidFill>
                  <a:srgbClr val="F8FAFC"/>
                </a:solidFill>
                <a:latin typeface="Plus Jakarta Sans"/>
              </a:defRPr>
            </a:pPr>
            <a:r>
              <a:t>• Constraint: Confused by cloud financial models (CapEx vs OpEx).</a:t>
            </a:r>
          </a:p>
          <a:p>
            <a:pPr>
              <a:spcAft>
                <a:spcPts val="600"/>
              </a:spcAft>
              <a:defRPr sz="1200">
                <a:solidFill>
                  <a:srgbClr val="F8FAFC"/>
                </a:solidFill>
                <a:latin typeface="Plus Jakarta Sans"/>
              </a:defRPr>
            </a:pPr>
            <a:r>
              <a:t>• How he uses Mama Cloud: Generates his #1MillionDevs Certificate of Readiness to show his manager and qualify for internal cloud project promotions.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IMPACT &amp; SCALABILITY • 20% RUBRIC WEIGHT</a:t>
            </a:r>
          </a:p>
          <a:p>
            <a:pPr>
              <a:defRPr sz="2800" b="1">
                <a:solidFill>
                  <a:srgbClr val="F8FAFC"/>
                </a:solidFill>
                <a:latin typeface="Outfit"/>
              </a:defRPr>
            </a:pPr>
            <a:r>
              <a:t>Impact &amp; Scalability: Empowering #1MillionDevs &amp; Beyond</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329184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83464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Phase 1: AZ-900 Dominance</a:t>
            </a:r>
          </a:p>
          <a:p>
            <a:pPr>
              <a:spcAft>
                <a:spcPts val="600"/>
              </a:spcAft>
              <a:defRPr sz="1200">
                <a:solidFill>
                  <a:srgbClr val="F8FAFC"/>
                </a:solidFill>
                <a:latin typeface="Plus Jakarta Sans"/>
              </a:defRPr>
            </a:pPr>
            <a:r>
              <a:t>• Deploy to 50+ African university developer clubs (Google DSC, Microsoft Learn Ambassadors).</a:t>
            </a:r>
          </a:p>
          <a:p>
            <a:pPr>
              <a:spcAft>
                <a:spcPts val="600"/>
              </a:spcAft>
              <a:defRPr sz="1200">
                <a:solidFill>
                  <a:srgbClr val="F8FAFC"/>
                </a:solidFill>
                <a:latin typeface="Plus Jakarta Sans"/>
              </a:defRPr>
            </a:pPr>
            <a:r>
              <a:t>• Target: 25,000 certified African cloud developers by Q4 2027.</a:t>
            </a:r>
          </a:p>
          <a:p>
            <a:pPr>
              <a:spcAft>
                <a:spcPts val="600"/>
              </a:spcAft>
              <a:defRPr sz="1200">
                <a:solidFill>
                  <a:srgbClr val="F8FAFC"/>
                </a:solidFill>
                <a:latin typeface="Plus Jakarta Sans"/>
              </a:defRPr>
            </a:pPr>
            <a:r>
              <a:t>• Zero-bandwidth WhatsApp / Telegram Study Bot rollout.</a:t>
            </a:r>
          </a:p>
        </p:txBody>
      </p:sp>
      <p:sp>
        <p:nvSpPr>
          <p:cNvPr id="8" name="Rounded Rectangle 7"/>
          <p:cNvSpPr/>
          <p:nvPr/>
        </p:nvSpPr>
        <p:spPr>
          <a:xfrm>
            <a:off x="4389120" y="1645920"/>
            <a:ext cx="3291840" cy="4389120"/>
          </a:xfrm>
          <a:prstGeom prst="roundRect">
            <a:avLst/>
          </a:prstGeom>
          <a:solidFill>
            <a:srgbClr val="161E31"/>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74519"/>
            <a:ext cx="2834640" cy="3931920"/>
          </a:xfrm>
          <a:prstGeom prst="rect">
            <a:avLst/>
          </a:prstGeom>
          <a:noFill/>
        </p:spPr>
        <p:txBody>
          <a:bodyPr wrap="square" lIns="0" tIns="0" rIns="0" bIns="0">
            <a:spAutoFit/>
          </a:bodyPr>
          <a:lstStyle/>
          <a:p>
            <a:pPr>
              <a:spcAft>
                <a:spcPts val="1000"/>
              </a:spcAft>
              <a:defRPr sz="1600" b="1">
                <a:solidFill>
                  <a:srgbClr val="FF6B4A"/>
                </a:solidFill>
                <a:latin typeface="Outfit"/>
              </a:defRPr>
            </a:pPr>
            <a:r>
              <a:t>Phase 2: Full Cert Matrix</a:t>
            </a:r>
          </a:p>
          <a:p>
            <a:pPr>
              <a:spcAft>
                <a:spcPts val="600"/>
              </a:spcAft>
              <a:defRPr sz="1200">
                <a:solidFill>
                  <a:srgbClr val="F8FAFC"/>
                </a:solidFill>
                <a:latin typeface="Plus Jakarta Sans"/>
              </a:defRPr>
            </a:pPr>
            <a:r>
              <a:t>• Expand the African analogy model to the full Microsoft Fundamentals suite:</a:t>
            </a:r>
          </a:p>
          <a:p>
            <a:pPr>
              <a:spcAft>
                <a:spcPts val="600"/>
              </a:spcAft>
              <a:defRPr sz="1200">
                <a:solidFill>
                  <a:srgbClr val="F8FAFC"/>
                </a:solidFill>
                <a:latin typeface="Plus Jakarta Sans"/>
              </a:defRPr>
            </a:pPr>
            <a:r>
              <a:t>• • SC-900 (Security &amp; Identity)</a:t>
            </a:r>
          </a:p>
          <a:p>
            <a:pPr>
              <a:spcAft>
                <a:spcPts val="600"/>
              </a:spcAft>
              <a:defRPr sz="1200">
                <a:solidFill>
                  <a:srgbClr val="F8FAFC"/>
                </a:solidFill>
                <a:latin typeface="Plus Jakarta Sans"/>
              </a:defRPr>
            </a:pPr>
            <a:r>
              <a:t>• • DP-900 (Azure Data Fundamentals)</a:t>
            </a:r>
          </a:p>
          <a:p>
            <a:pPr>
              <a:spcAft>
                <a:spcPts val="600"/>
              </a:spcAft>
              <a:defRPr sz="1200">
                <a:solidFill>
                  <a:srgbClr val="F8FAFC"/>
                </a:solidFill>
                <a:latin typeface="Plus Jakarta Sans"/>
              </a:defRPr>
            </a:pPr>
            <a:r>
              <a:t>• • AI-900 (Azure AI Fundamentals)</a:t>
            </a:r>
          </a:p>
          <a:p>
            <a:pPr>
              <a:spcAft>
                <a:spcPts val="600"/>
              </a:spcAft>
              <a:defRPr sz="1200">
                <a:solidFill>
                  <a:srgbClr val="F8FAFC"/>
                </a:solidFill>
                <a:latin typeface="Plus Jakarta Sans"/>
              </a:defRPr>
            </a:pPr>
            <a:r>
              <a:t>• Same 3-part pedagogical formula.</a:t>
            </a:r>
          </a:p>
        </p:txBody>
      </p:sp>
      <p:sp>
        <p:nvSpPr>
          <p:cNvPr id="10" name="Rounded Rectangle 9"/>
          <p:cNvSpPr/>
          <p:nvPr/>
        </p:nvSpPr>
        <p:spPr>
          <a:xfrm>
            <a:off x="8046720" y="1645920"/>
            <a:ext cx="3291840" cy="4389120"/>
          </a:xfrm>
          <a:prstGeom prst="roundRect">
            <a:avLst/>
          </a:prstGeom>
          <a:solidFill>
            <a:srgbClr val="16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2834640" cy="3931920"/>
          </a:xfrm>
          <a:prstGeom prst="rect">
            <a:avLst/>
          </a:prstGeom>
          <a:noFill/>
        </p:spPr>
        <p:txBody>
          <a:bodyPr wrap="square" lIns="0" tIns="0" rIns="0" bIns="0">
            <a:spAutoFit/>
          </a:bodyPr>
          <a:lstStyle/>
          <a:p>
            <a:pPr>
              <a:spcAft>
                <a:spcPts val="1000"/>
              </a:spcAft>
              <a:defRPr sz="1600" b="1">
                <a:solidFill>
                  <a:srgbClr val="10B981"/>
                </a:solidFill>
                <a:latin typeface="Outfit"/>
              </a:defRPr>
            </a:pPr>
            <a:r>
              <a:t>Phase 3: Multi-Cloud Pan-Africa</a:t>
            </a:r>
          </a:p>
          <a:p>
            <a:pPr>
              <a:spcAft>
                <a:spcPts val="600"/>
              </a:spcAft>
              <a:defRPr sz="1200">
                <a:solidFill>
                  <a:srgbClr val="F8FAFC"/>
                </a:solidFill>
                <a:latin typeface="Plus Jakarta Sans"/>
              </a:defRPr>
            </a:pPr>
            <a:r>
              <a:t>• Scale analogies to AWS Cloud Practitioner &amp; GCP Cloud Digital Leader.</a:t>
            </a:r>
          </a:p>
          <a:p>
            <a:pPr>
              <a:spcAft>
                <a:spcPts val="600"/>
              </a:spcAft>
              <a:defRPr sz="1200">
                <a:solidFill>
                  <a:srgbClr val="F8FAFC"/>
                </a:solidFill>
                <a:latin typeface="Plus Jakarta Sans"/>
              </a:defRPr>
            </a:pPr>
            <a:r>
              <a:t>• Open-source Community Analogy Crowdsourcing portal (allowing learners in Ghana, Rwanda, Egypt, Senegal to contribute regional dialects).</a:t>
            </a:r>
          </a:p>
          <a:p>
            <a:pPr>
              <a:spcAft>
                <a:spcPts val="600"/>
              </a:spcAft>
              <a:defRPr sz="1200">
                <a:solidFill>
                  <a:srgbClr val="F8FAFC"/>
                </a:solidFill>
                <a:latin typeface="Plus Jakarta Sans"/>
              </a:defRPr>
            </a:pPr>
            <a:r>
              <a:t>• Institutional partnerships with ALX, ccHUB, and Moringa School.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05840"/>
          </a:xfrm>
          <a:prstGeom prst="rect">
            <a:avLst/>
          </a:prstGeom>
          <a:noFill/>
        </p:spPr>
        <p:txBody>
          <a:bodyPr wrap="square" lIns="0" tIns="0" rIns="0" bIns="0">
            <a:spAutoFit/>
          </a:bodyPr>
          <a:lstStyle/>
          <a:p>
            <a:pPr>
              <a:defRPr sz="1100" b="1">
                <a:solidFill>
                  <a:srgbClr val="F59E0B"/>
                </a:solidFill>
                <a:latin typeface="Outfit"/>
              </a:defRPr>
            </a:pPr>
            <a:r>
              <a:t>CLARITY &amp; QUALITY ASSURANCE • 20% RUBRIC WEIGHT</a:t>
            </a:r>
          </a:p>
          <a:p>
            <a:pPr>
              <a:defRPr sz="2800" b="1">
                <a:solidFill>
                  <a:srgbClr val="F8FAFC"/>
                </a:solidFill>
                <a:latin typeface="Outfit"/>
              </a:defRPr>
            </a:pPr>
            <a:r>
              <a:t>Ethical AI, Compliance &amp; Pedagogical Integrity</a:t>
            </a:r>
          </a:p>
        </p:txBody>
      </p:sp>
      <p:sp>
        <p:nvSpPr>
          <p:cNvPr id="5" name="TextBox 4"/>
          <p:cNvSpPr txBox="1"/>
          <p:nvPr/>
        </p:nvSpPr>
        <p:spPr>
          <a:xfrm>
            <a:off x="731520" y="6400800"/>
            <a:ext cx="10728655" cy="320040"/>
          </a:xfrm>
          <a:prstGeom prst="rect">
            <a:avLst/>
          </a:prstGeom>
          <a:noFill/>
        </p:spPr>
        <p:txBody>
          <a:bodyPr wrap="square">
            <a:spAutoFit/>
          </a:bodyPr>
          <a:lstStyle/>
          <a:p>
            <a:pPr>
              <a:defRPr sz="900">
                <a:solidFill>
                  <a:srgbClr val="94A3B8"/>
                </a:solidFill>
                <a:latin typeface="Plus Jakarta Sans"/>
              </a:defRPr>
            </a:pPr>
            <a:r>
              <a:t>Mama Cloud &amp; Bro Cloud • #1MillionDevs Movement • AZ-900 Exam Prep Edition (Unofficial Community Tool)</a:t>
            </a:r>
          </a:p>
        </p:txBody>
      </p:sp>
      <p:sp>
        <p:nvSpPr>
          <p:cNvPr id="6" name="Rounded Rectangle 5"/>
          <p:cNvSpPr/>
          <p:nvPr/>
        </p:nvSpPr>
        <p:spPr>
          <a:xfrm>
            <a:off x="731520" y="1645920"/>
            <a:ext cx="3291840" cy="4389120"/>
          </a:xfrm>
          <a:prstGeom prst="roundRect">
            <a:avLst/>
          </a:prstGeom>
          <a:solidFill>
            <a:srgbClr val="16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834640" cy="3931920"/>
          </a:xfrm>
          <a:prstGeom prst="rect">
            <a:avLst/>
          </a:prstGeom>
          <a:noFill/>
        </p:spPr>
        <p:txBody>
          <a:bodyPr wrap="square" lIns="0" tIns="0" rIns="0" bIns="0">
            <a:spAutoFit/>
          </a:bodyPr>
          <a:lstStyle/>
          <a:p>
            <a:pPr>
              <a:spcAft>
                <a:spcPts val="1000"/>
              </a:spcAft>
              <a:defRPr sz="1600" b="1">
                <a:solidFill>
                  <a:srgbClr val="10B981"/>
                </a:solidFill>
                <a:latin typeface="Outfit"/>
              </a:defRPr>
            </a:pPr>
            <a:r>
              <a:t>100% Original Content</a:t>
            </a:r>
          </a:p>
          <a:p>
            <a:pPr>
              <a:spcAft>
                <a:spcPts val="600"/>
              </a:spcAft>
              <a:defRPr sz="1200">
                <a:solidFill>
                  <a:srgbClr val="F8FAFC"/>
                </a:solidFill>
                <a:latin typeface="Plus Jakarta Sans"/>
              </a:defRPr>
            </a:pPr>
            <a:r>
              <a:t>• Zero exam dumps or NDA violations.</a:t>
            </a:r>
          </a:p>
          <a:p>
            <a:pPr>
              <a:spcAft>
                <a:spcPts val="600"/>
              </a:spcAft>
              <a:defRPr sz="1200">
                <a:solidFill>
                  <a:srgbClr val="F8FAFC"/>
                </a:solidFill>
                <a:latin typeface="Plus Jakarta Sans"/>
              </a:defRPr>
            </a:pPr>
            <a:r>
              <a:t>• Every question is scenario-based and written from scratch based on the official Microsoft Learn skills outline.</a:t>
            </a:r>
          </a:p>
          <a:p>
            <a:pPr>
              <a:spcAft>
                <a:spcPts val="600"/>
              </a:spcAft>
              <a:defRPr sz="1200">
                <a:solidFill>
                  <a:srgbClr val="F8FAFC"/>
                </a:solidFill>
                <a:latin typeface="Plus Jakarta Sans"/>
              </a:defRPr>
            </a:pPr>
            <a:r>
              <a:t>• Teaches first-principles architectural reasoning rather than blind rote memorization.</a:t>
            </a:r>
          </a:p>
        </p:txBody>
      </p:sp>
      <p:sp>
        <p:nvSpPr>
          <p:cNvPr id="8" name="Rounded Rectangle 7"/>
          <p:cNvSpPr/>
          <p:nvPr/>
        </p:nvSpPr>
        <p:spPr>
          <a:xfrm>
            <a:off x="4389120" y="1645920"/>
            <a:ext cx="3291840" cy="4389120"/>
          </a:xfrm>
          <a:prstGeom prst="roundRect">
            <a:avLst/>
          </a:prstGeom>
          <a:solidFill>
            <a:srgbClr val="16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74519"/>
            <a:ext cx="2834640" cy="3931920"/>
          </a:xfrm>
          <a:prstGeom prst="rect">
            <a:avLst/>
          </a:prstGeom>
          <a:noFill/>
        </p:spPr>
        <p:txBody>
          <a:bodyPr wrap="square" lIns="0" tIns="0" rIns="0" bIns="0">
            <a:spAutoFit/>
          </a:bodyPr>
          <a:lstStyle/>
          <a:p>
            <a:pPr>
              <a:spcAft>
                <a:spcPts val="1000"/>
              </a:spcAft>
              <a:defRPr sz="1600" b="1">
                <a:solidFill>
                  <a:srgbClr val="F59E0B"/>
                </a:solidFill>
                <a:latin typeface="Outfit"/>
              </a:defRPr>
            </a:pPr>
            <a:r>
              <a:t>No Trademark Infringement</a:t>
            </a:r>
          </a:p>
          <a:p>
            <a:pPr>
              <a:spcAft>
                <a:spcPts val="600"/>
              </a:spcAft>
              <a:defRPr sz="1200">
                <a:solidFill>
                  <a:srgbClr val="F8FAFC"/>
                </a:solidFill>
                <a:latin typeface="Plus Jakarta Sans"/>
              </a:defRPr>
            </a:pPr>
            <a:r>
              <a:t>• No official Microsoft logos used.</a:t>
            </a:r>
          </a:p>
          <a:p>
            <a:pPr>
              <a:spcAft>
                <a:spcPts val="600"/>
              </a:spcAft>
              <a:defRPr sz="1200">
                <a:solidFill>
                  <a:srgbClr val="F8FAFC"/>
                </a:solidFill>
                <a:latin typeface="Plus Jakarta Sans"/>
              </a:defRPr>
            </a:pPr>
            <a:r>
              <a:t>• Prominently labeled as an Unofficial Community Exam Prep Tool built for #1MillionDevs.</a:t>
            </a:r>
          </a:p>
          <a:p>
            <a:pPr>
              <a:spcAft>
                <a:spcPts val="600"/>
              </a:spcAft>
              <a:defRPr sz="1200">
                <a:solidFill>
                  <a:srgbClr val="F8FAFC"/>
                </a:solidFill>
                <a:latin typeface="Plus Jakarta Sans"/>
              </a:defRPr>
            </a:pPr>
            <a:r>
              <a:t>• Protects learners and community partners from legal liability.</a:t>
            </a:r>
          </a:p>
        </p:txBody>
      </p:sp>
      <p:sp>
        <p:nvSpPr>
          <p:cNvPr id="10" name="Rounded Rectangle 9"/>
          <p:cNvSpPr/>
          <p:nvPr/>
        </p:nvSpPr>
        <p:spPr>
          <a:xfrm>
            <a:off x="8046720" y="1645920"/>
            <a:ext cx="3291840" cy="4389120"/>
          </a:xfrm>
          <a:prstGeom prst="roundRect">
            <a:avLst/>
          </a:prstGeom>
          <a:solidFill>
            <a:srgbClr val="16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2834640" cy="3931920"/>
          </a:xfrm>
          <a:prstGeom prst="rect">
            <a:avLst/>
          </a:prstGeom>
          <a:noFill/>
        </p:spPr>
        <p:txBody>
          <a:bodyPr wrap="square" lIns="0" tIns="0" rIns="0" bIns="0">
            <a:spAutoFit/>
          </a:bodyPr>
          <a:lstStyle/>
          <a:p>
            <a:pPr>
              <a:spcAft>
                <a:spcPts val="1000"/>
              </a:spcAft>
              <a:defRPr sz="1600" b="1">
                <a:solidFill>
                  <a:srgbClr val="06B6D4"/>
                </a:solidFill>
                <a:latin typeface="Outfit"/>
              </a:defRPr>
            </a:pPr>
            <a:r>
              <a:t>Inclusive &amp; Lightweight</a:t>
            </a:r>
          </a:p>
          <a:p>
            <a:pPr>
              <a:spcAft>
                <a:spcPts val="600"/>
              </a:spcAft>
              <a:defRPr sz="1200">
                <a:solidFill>
                  <a:srgbClr val="F8FAFC"/>
                </a:solidFill>
                <a:latin typeface="Plus Jakarta Sans"/>
              </a:defRPr>
            </a:pPr>
            <a:r>
              <a:t>• Zero heavyweight frameworks (pure vanilla HTML5/CSS/JS).</a:t>
            </a:r>
          </a:p>
          <a:p>
            <a:pPr>
              <a:spcAft>
                <a:spcPts val="600"/>
              </a:spcAft>
              <a:defRPr sz="1200">
                <a:solidFill>
                  <a:srgbClr val="F8FAFC"/>
                </a:solidFill>
                <a:latin typeface="Plus Jakarta Sans"/>
              </a:defRPr>
            </a:pPr>
            <a:r>
              <a:t>• Initial page load under 500KB; loads in under 1 second on 3G mobile networks.</a:t>
            </a:r>
          </a:p>
          <a:p>
            <a:pPr>
              <a:spcAft>
                <a:spcPts val="600"/>
              </a:spcAft>
              <a:defRPr sz="1200">
                <a:solidFill>
                  <a:srgbClr val="F8FAFC"/>
                </a:solidFill>
                <a:latin typeface="Plus Jakarta Sans"/>
              </a:defRPr>
            </a:pPr>
            <a:r>
              <a:t>• Local-storage persistence requires zero user login barriers or tracking.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62895" cy="4114800"/>
          </a:xfrm>
          <a:prstGeom prst="rect">
            <a:avLst/>
          </a:prstGeom>
          <a:noFill/>
        </p:spPr>
        <p:txBody>
          <a:bodyPr wrap="square">
            <a:spAutoFit/>
          </a:bodyPr>
          <a:lstStyle/>
          <a:p>
            <a:pPr>
              <a:defRPr sz="1400" b="1">
                <a:solidFill>
                  <a:srgbClr val="F59E0B"/>
                </a:solidFill>
                <a:latin typeface="Outfit"/>
              </a:defRPr>
            </a:pPr>
            <a:r>
              <a:t>CONCLUSION &amp; THE CALL AHEAD</a:t>
            </a:r>
          </a:p>
          <a:p>
            <a:pPr>
              <a:spcBef>
                <a:spcPts val="1000"/>
              </a:spcBef>
              <a:defRPr sz="2800" b="1">
                <a:solidFill>
                  <a:srgbClr val="F8FAFC"/>
                </a:solidFill>
                <a:latin typeface="Outfit"/>
              </a:defRPr>
            </a:pPr>
            <a:r>
              <a:t>“When we teach cloud in the language of our people, African youth don't just pass exams—they build the future.”</a:t>
            </a:r>
          </a:p>
          <a:p>
            <a:pPr>
              <a:spcBef>
                <a:spcPts val="1800"/>
              </a:spcBef>
              <a:defRPr sz="1600">
                <a:solidFill>
                  <a:srgbClr val="FF6B4A"/>
                </a:solidFill>
                <a:latin typeface="Plus Jakarta Sans"/>
              </a:defRPr>
            </a:pPr>
            <a:r>
              <a:t>Mama Cloud &amp; Bro Cloud are ready to scale to 1 Million African Developers.</a:t>
            </a:r>
            <a:br/>
            <a:r>
              <a:t>• Live Prototype: http://localhost:8080</a:t>
            </a:r>
            <a:br/>
            <a:r>
              <a:t>• GitHub: https://github.com/johnloreng/hackathon2.git</a:t>
            </a:r>
            <a:br/>
            <a:r>
              <a:t>• Movement: #1MillionDevs • Built with Love &amp; African Pride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